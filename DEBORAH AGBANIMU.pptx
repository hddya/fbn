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B1F3A"/>
                </a:solidFill>
                <a:latin typeface="Arial" panose="020B07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 panose="020B0704020202020204"/>
              </a:rPr>
              <a:t>Engineer-days available per week</a:t>
            </a:r>
            <a:endParaRPr sz="1200" b="0" i="0" u="none" strike="noStrike">
              <a:solidFill>
                <a:srgbClr val="0B1F3A"/>
              </a:solidFill>
              <a:latin typeface="Arial" panose="020B07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Engineer-days</c:v>
                </c:pt>
              </c:strCache>
            </c:strRef>
          </c:tx>
          <c:spPr>
            <a:solidFill>
              <a:srgbClr val="1632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F2937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16</c:v>
                </c:pt>
                <c:pt idx="2">
                  <c:v>20</c:v>
                </c:pt>
                <c:pt idx="3">
                  <c:v>15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6350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101506f-db47-4b9d-aa3e-490a70351ed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B1F3A"/>
                </a:solidFill>
                <a:latin typeface="Arial" panose="020B07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 panose="020B0704020202020204"/>
              </a:rPr>
              <a:t>Story points — plan vs capacity</a:t>
            </a:r>
            <a:endParaRPr sz="1200" b="0" i="0" u="none" strike="noStrike">
              <a:solidFill>
                <a:srgbClr val="0B1F3A"/>
              </a:solidFill>
              <a:latin typeface="Arial" panose="020B07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backlog (61)</c:v>
                </c:pt>
              </c:strCache>
            </c:strRef>
          </c:tx>
          <c:spPr>
            <a:ln w="31750" cap="flat" cmpd="sng" algn="ctr">
              <a:solidFill>
                <a:srgbClr val="B8C0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C0CC"/>
              </a:solidFill>
              <a:ln w="9525" cap="flat" cmpd="sng" algn="ctr">
                <a:solidFill>
                  <a:srgbClr val="B8C0C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</c:v>
                </c:pt>
                <c:pt idx="1">
                  <c:v>61</c:v>
                </c:pt>
                <c:pt idx="2">
                  <c:v>61</c:v>
                </c:pt>
                <c:pt idx="3">
                  <c:v>61</c:v>
                </c:pt>
                <c:pt idx="4">
                  <c:v>61</c:v>
                </c:pt>
                <c:pt idx="5">
                  <c:v>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capacity (cumulative)</c:v>
                </c:pt>
              </c:strCache>
            </c:strRef>
          </c:tx>
          <c:spPr>
            <a:ln w="31750" cap="flat" cmpd="sng" algn="ctr">
              <a:solidFill>
                <a:srgbClr val="7FA3C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FA3CF"/>
              </a:solidFill>
              <a:ln w="9525" cap="flat" cmpd="sng" algn="ctr">
                <a:solidFill>
                  <a:srgbClr val="7FA3C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</c:v>
                </c:pt>
                <c:pt idx="1">
                  <c:v>18</c:v>
                </c:pt>
                <c:pt idx="2">
                  <c:v>28</c:v>
                </c:pt>
                <c:pt idx="3">
                  <c:v>35.5</c:v>
                </c:pt>
                <c:pt idx="4">
                  <c:v>45.5</c:v>
                </c:pt>
                <c:pt idx="5">
                  <c:v>45.5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Committed scope (38)</c:v>
                </c:pt>
              </c:strCache>
            </c:strRef>
          </c:tx>
          <c:spPr>
            <a:ln w="31750" cap="flat" cmpd="sng" algn="ctr">
              <a:solidFill>
                <a:srgbClr val="D4A4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437"/>
              </a:solidFill>
              <a:ln w="9525" cap="flat" cmpd="sng" algn="ctr">
                <a:solidFill>
                  <a:srgbClr val="D4A43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38</c:v>
                </c:pt>
                <c:pt idx="1">
                  <c:v>38</c:v>
                </c:pt>
                <c:pt idx="2">
                  <c:v>38</c:v>
                </c:pt>
                <c:pt idx="3">
                  <c:v>38</c:v>
                </c:pt>
                <c:pt idx="4">
                  <c:v>38</c:v>
                </c:pt>
                <c:pt idx="5">
                  <c:v>38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Planned done (cumulative)</c:v>
                </c:pt>
              </c:strCache>
            </c:strRef>
          </c:tx>
          <c:spPr>
            <a:ln w="31750" cap="flat" cmpd="sng" algn="ctr">
              <a:solidFill>
                <a:srgbClr val="0B1F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1F3A"/>
              </a:solidFill>
              <a:ln w="9525" cap="flat" cmpd="sng" algn="ctr">
                <a:solidFill>
                  <a:srgbClr val="0B1F3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8</c:v>
                </c:pt>
                <c:pt idx="1">
                  <c:v>15</c:v>
                </c:pt>
                <c:pt idx="2">
                  <c:v>23</c:v>
                </c:pt>
                <c:pt idx="3">
                  <c:v>29</c:v>
                </c:pt>
                <c:pt idx="4">
                  <c:v>38</c:v>
                </c:pt>
                <c:pt idx="5">
                  <c:v>38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Arial" panose="020B0704020202020204"/>
              <a:ea typeface="+mn-ea"/>
              <a:cs typeface="Arial" panose="020B0704020202020204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4a8016d-aaf7-427b-9904-37232ca1477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this kit is written for one team, one date and one history. Every number in it traces back to the scenario: 7 people, a contractor 5 hours behind Lagos, two missed sprints, a CBN date on Friday 30 October 2026, and a NovaWallet API that has slipped before. Team member names are illustrative for the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Defending the sprint shape: two-week sprints keep ceremony overhead low for a team that is already stretched; Sprint 3 is shortened so Week 6 is clean. Hard dates: API contract 25 Sep, staging 2 Oct, go/no-go 9 Oct 12:00, prod 16 Oct, freeze 23 Oct, sign-off 27 Oct, submission 28 Oct, deadline 30 Oct.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source for the repo version of this map:
flowchart LR
  subgraph NovaWallet squad
    L[Core ledger] --&gt; API[Ledger Events API v2
staging 2 Oct · prod 16 Oct]
    FB[Fallback: nightly ledger extract
decide Fri 9 Oct 12:00]
  end
  subgraph NovaLend squad
    ING[Ingestion service] --&gt; DPD[Repayment &amp; DPD engine]
    DPD --&gt; STORE[Loan-level store + audit trail]
    STORE --&gt; EXT[Extract generator + reconciliation
freeze 23 Oct]
  end
  subgraph Regulatory
    CMP[Compliance sign-off
16 Oct · 27 Oct] --&gt; CBN[CBN submission 28 Oct
deadline 30 Oct]
  end
  API -- BLOCKING --&gt; ING
  FB -. if API late .-&gt; ING
  EXT --&gt; CMP
  classDef block stroke:#B42318,stroke-width:3px;
  class API block;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submitting: replace the placeholder line in 'Tools' with the tools you actually used, and document in AI_USAGE.md the follow-up prompts you gave and one specific AI draft you corrected (for example, a status update pitched at the wrong audience, or a plan that used committed rather than delivered velocity). The panel will probe this live, so it must be your real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FirstBank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DIGITAL FACTORY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TAKE-HOME TASK  ·  SCRUM MASTER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7589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4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 plan to get a squad that has missed two sprints to a CBN regulatory reporting deadline that cannot move — Friday 30 October 2026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74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Prepared by Deborah Agbanimu·  Scrum Master, NovaLend  ·  16 September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40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Product scenario: FirstBank NovaPay  ·  Plan window: Mon 21 Sep – Fri 30 Oct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49640" y="1737360"/>
            <a:ext cx="3017520" cy="3017520"/>
          </a:xfrm>
          <a:prstGeom prst="ellipse">
            <a:avLst/>
          </a:prstGeom>
          <a:solidFill>
            <a:srgbClr val="16325C"/>
          </a:solidFill>
          <a:ln w="38100">
            <a:solidFill>
              <a:srgbClr val="D4A4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49640" y="25146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CBN DEADLINE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27889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30 Oct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35661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4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 weeks · 29 working days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The situation every artifact in this kit is built around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17320"/>
            <a:ext cx="179771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7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57400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people in the squad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331720"/>
            <a:ext cx="179771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 engineers · 1 QA · 1 designer · 1 PO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03550" y="13258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68142" y="1417320"/>
            <a:ext cx="179771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5h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968142" y="2057400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contractor behind Lagos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68142" y="2331720"/>
            <a:ext cx="179771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Toronto (EDT) — gap holds to 1 Nov, after the deadline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58461" y="13258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3053" y="1417320"/>
            <a:ext cx="179771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5223053" y="2057400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sprints missed in a row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23053" y="2331720"/>
            <a:ext cx="179771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Committed 34 &amp; 32 pts · delivered 21 &amp; 19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3371" y="13258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77963" y="1417320"/>
            <a:ext cx="179771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30 Oct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7477963" y="2057400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CBN reporting deadline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77963" y="2331720"/>
            <a:ext cx="179771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4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Fixed · 6 weeks · 29 working days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568282" y="13258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32874" y="1417320"/>
            <a:ext cx="179771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9732874" y="2057400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blocking dependency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732874" y="2331720"/>
            <a:ext cx="179771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NovaWallet Ledger Events API v2 — history of slipping</a:t>
            </a:r>
            <a:endParaRPr lang="en-US" sz="9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548640" y="3154680"/>
          <a:ext cx="11091672" cy="2633472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404872"/>
                <a:gridCol w="448056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Name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Role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Location · working hours (WAT)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What matters for this plan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Adaeze Okafor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Product Owner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Lagos · 09:00–17:00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Owns scope trade-offs and the Compliance relationship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Tunde Bakare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Backend engineer · tech lead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Lagos · 09:00–17:00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Technical contact for the NovaWallet squad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Chiamaka Eze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Backend engineer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Lagos · 09:00–17:00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Knows repayment &amp; reconciliation logic · approved leave 12–16 Oct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Ifeoluwa Adeyemi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Frontend engineer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Lagos · 09:00–17:00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Compliance review screen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Daniel Mensah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Backend engineer (contractor)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Toronto · 14:00–22:00 WAT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Ingestion service · only 3h overlap with Lagos (14:00–17:00)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Halima Yusuf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QA engineer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Lagos · 09:00–17:00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Sole tester on a regulator-facing release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Kelechi Nwosu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Product designer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Lagos · ~30% on CBN scope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Review screen using existing NovaPay design system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Names are illustrative for this exercise. Sprint history figures are the baseline I'd verify in Jira on Day 1 before planning.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README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What's where — and which assessment criterion each part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325880"/>
          <a:ext cx="11091672" cy="4572000"/>
        </p:xfrm>
        <a:graphic>
          <a:graphicData uri="http://schemas.openxmlformats.org/drawingml/2006/table">
            <a:tbl>
              <a:tblPr/>
              <a:tblGrid>
                <a:gridCol w="2331720"/>
                <a:gridCol w="914400"/>
                <a:gridCol w="5513832"/>
                <a:gridCol w="233172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Artifact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Slides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What you'll find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Assessment criterion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 · 6-week plan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4–8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Week-by-week timeline, capacity maths (holiday + leave), protect/defer/cut decisions, burn-up, ceremony cadence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Situational specificity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 · RAID log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9–10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13 entries — 6 risks, 2 assumptions, 3 issues, 2 dependencies — each with owner, severity, mitigation, date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Risk &amp; dependency management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3 · Retro facilitation plan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11–13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Reset retro agenda, the exact questions, dominant/quiet-voice tactics, how output becomes owned actions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Facilitation quality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4 · Stakeholder comms plan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14–15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Weekly / monthly / one-off audiences, and a fully written W3 status update with a decision request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Stakeholder communication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 · Ceremony redesign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16–17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Standup, planning and retro rebuilt around the 14:00–17:00 overlap; Tuesday 6 October walked hour by hour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Situational specificity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6 · Dependency map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18–19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Map of the NovaWallet API dependency, fallback path, RAG rules and 4-level escalation ladder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Risk &amp; dependency management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Stretch goals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7, 19, 20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Burn-up &amp; capacity charts · escalation script (exact words) · regulator-facing Definition of Done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Differentiators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Defending the plan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21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The six pushbacks I expect from leadership and my answers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Communication &amp; defensibility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AI_USAGE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22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Tools, prompts, and the review checks used to catch generic AI output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AI fluency &amp; judgment</a:t>
                      </a:r>
                      <a:endParaRPr lang="en-US" sz="11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1 · 6-WEEK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Six weeks to Friday 30 October — submit on the 28th, keep 2 days' buffer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3605784" cy="347472"/>
          </a:xfrm>
          <a:prstGeom prst="roundRect">
            <a:avLst>
              <a:gd name="adj" fmla="val 1315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98448"/>
            <a:ext cx="3605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SPRINT 1 · 21 Sep – 2 Oct · 9 working days · commit 15 pts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1584" y="1298448"/>
            <a:ext cx="3605784" cy="347472"/>
          </a:xfrm>
          <a:prstGeom prst="roundRect">
            <a:avLst>
              <a:gd name="adj" fmla="val 13158"/>
            </a:avLst>
          </a:prstGeom>
          <a:solidFill>
            <a:srgbClr val="1632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1584" y="1298448"/>
            <a:ext cx="3605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SPRINT 2 · 5 – 16 Oct · commit 14 pts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34528" y="1298448"/>
            <a:ext cx="1734312" cy="347472"/>
          </a:xfrm>
          <a:prstGeom prst="roundRect">
            <a:avLst>
              <a:gd name="adj" fmla="val 13158"/>
            </a:avLst>
          </a:prstGeom>
          <a:solidFill>
            <a:srgbClr val="2F4A73"/>
          </a:solidFill>
          <a:ln w="12700">
            <a:solidFill>
              <a:srgbClr val="2F4A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34528" y="1298448"/>
            <a:ext cx="17343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SPRINT 3 · 1 week · 9 pts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906000" y="1298448"/>
            <a:ext cx="1734312" cy="347472"/>
          </a:xfrm>
          <a:prstGeom prst="roundRect">
            <a:avLst>
              <a:gd name="adj" fmla="val 13158"/>
            </a:avLst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06000" y="1298448"/>
            <a:ext cx="17343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HARDENING · no new scope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1734312" cy="3977640"/>
          </a:xfrm>
          <a:prstGeom prst="roundRect">
            <a:avLst>
              <a:gd name="adj" fmla="val 421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1874520"/>
            <a:ext cx="15514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148840"/>
            <a:ext cx="155143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 21 – Fri 25 Sep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2468880"/>
            <a:ext cx="1606296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Mon: reset retro (90 min)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Tue: Sprint 1 planning at 15 pts, not 34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Tue–Thu: refinement blitz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Wed: CBN field mapping walkthrough with Compliance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Fri: NovaWallet API contract signed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" y="4956048"/>
            <a:ext cx="1588008" cy="713232"/>
          </a:xfrm>
          <a:prstGeom prst="roundRect">
            <a:avLst>
              <a:gd name="adj" fmla="val 641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" y="4956048"/>
            <a:ext cx="1478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Scope + API contract locked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20112" y="1783080"/>
            <a:ext cx="1734312" cy="3977640"/>
          </a:xfrm>
          <a:prstGeom prst="roundRect">
            <a:avLst>
              <a:gd name="adj" fmla="val 421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29840" y="1874520"/>
            <a:ext cx="15514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529840" y="2148840"/>
            <a:ext cx="155143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 28 Sep – Fri 2 Oct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93264" y="2468880"/>
            <a:ext cx="1606296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Thu 1 Oct: Independence Day — no work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Build on NovaWallet mock server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Chiamaka starts pairing Daniel on reconciliation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Fri: review — sample extract shown to Compliance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93264" y="4956048"/>
            <a:ext cx="1588008" cy="713232"/>
          </a:xfrm>
          <a:prstGeom prst="roundRect">
            <a:avLst>
              <a:gd name="adj" fmla="val 641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48128" y="4956048"/>
            <a:ext cx="1478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NovaWallet API in staging (due Fri 2 Oct)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1584" y="1783080"/>
            <a:ext cx="1734312" cy="3977640"/>
          </a:xfrm>
          <a:prstGeom prst="roundRect">
            <a:avLst>
              <a:gd name="adj" fmla="val 421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01312" y="1874520"/>
            <a:ext cx="15514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01312" y="2148840"/>
            <a:ext cx="155143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 5 – Fri 9 Oct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364736" y="2468880"/>
            <a:ext cx="1606296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Mon: Sprint 2 planning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 5: monthly update to Head of Digital Factory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Wed 7: reconciliation handover recorded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Fri 9, 12:00: API vs fallback go/no-go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64736" y="4956048"/>
            <a:ext cx="1588008" cy="713232"/>
          </a:xfrm>
          <a:prstGeom prst="roundRect">
            <a:avLst>
              <a:gd name="adj" fmla="val 641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19600" y="4956048"/>
            <a:ext cx="1478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Dependency decision point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63056" y="1783080"/>
            <a:ext cx="1734312" cy="3977640"/>
          </a:xfrm>
          <a:prstGeom prst="roundRect">
            <a:avLst>
              <a:gd name="adj" fmla="val 421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72784" y="1874520"/>
            <a:ext cx="15514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272784" y="2148840"/>
            <a:ext cx="155143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 12 – Fri 16 Oct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2468880"/>
            <a:ext cx="1606296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Chiamaka on approved leave (5 days)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Thu 15: first end-to-end dry run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Fri 16: Sprint 2 review — Compliance sample sign-off #1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36208" y="4956048"/>
            <a:ext cx="1588008" cy="713232"/>
          </a:xfrm>
          <a:prstGeom prst="roundRect">
            <a:avLst>
              <a:gd name="adj" fmla="val 641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91072" y="4956048"/>
            <a:ext cx="1478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NovaWallet API in production (due Fri 16 Oct)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34528" y="1783080"/>
            <a:ext cx="1734312" cy="3977640"/>
          </a:xfrm>
          <a:prstGeom prst="roundRect">
            <a:avLst>
              <a:gd name="adj" fmla="val 421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44256" y="1874520"/>
            <a:ext cx="15514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144256" y="2148840"/>
            <a:ext cx="155143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 19 – Fri 23 Oct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107680" y="2468880"/>
            <a:ext cx="1606296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Reconcile on masked production-like data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Wed–Thu: Compliance UAT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Fri: short review + 45-min retro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07680" y="4956048"/>
            <a:ext cx="1588008" cy="713232"/>
          </a:xfrm>
          <a:prstGeom prst="roundRect">
            <a:avLst>
              <a:gd name="adj" fmla="val 641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62544" y="4956048"/>
            <a:ext cx="1478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Feature freeze Fri 23 Oct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906000" y="1783080"/>
            <a:ext cx="1734312" cy="3977640"/>
          </a:xfrm>
          <a:prstGeom prst="roundRect">
            <a:avLst>
              <a:gd name="adj" fmla="val 421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15728" y="1874520"/>
            <a:ext cx="15514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6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015728" y="2148840"/>
            <a:ext cx="155143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 26 – Fri 30 Oct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9979152" y="2468880"/>
            <a:ext cx="1606296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Mon–Tue: full regression + re-run test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Tue 27: final Compliance sign-off + CAB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Wed 28: submit to CBN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Thu–Fri: buffer; retro Fri 30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979152" y="4956048"/>
            <a:ext cx="1588008" cy="713232"/>
          </a:xfrm>
          <a:prstGeom prst="roundRect">
            <a:avLst>
              <a:gd name="adj" fmla="val 6410"/>
            </a:avLst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034016" y="4956048"/>
            <a:ext cx="1478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CBN deadline Fri 30 Oct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Why Sprint 3 is one week: </a:t>
            </a: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the last five working days are held for regression, sign-off and change approval. Submitting on deadline day is not a plan — if anything breaks on the 28th, we still have the 29th and 30th.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1 · 6-WEEK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Capacity: planned on what the team delivered, not what it committed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325880"/>
          <a:ext cx="6766560" cy="3072384"/>
        </p:xfrm>
        <a:graphic>
          <a:graphicData uri="http://schemas.openxmlformats.org/drawingml/2006/table">
            <a:tbl>
              <a:tblPr/>
              <a:tblGrid>
                <a:gridCol w="731520"/>
                <a:gridCol w="1143000"/>
                <a:gridCol w="1234440"/>
                <a:gridCol w="2606040"/>
                <a:gridCol w="105156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Week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Working days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Engineer-days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Deductions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Forecast pts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W1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—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W2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4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16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Independence Day, Thu 1 Oct (−4)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8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W3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—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W4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15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Chiamaka approved leave 12–16 Oct (−5)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7.5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W5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—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W6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20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Hardening — regression &amp; fixes only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0 new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Total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29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111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−9 engineer-days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45.5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52628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 engineers incl. Daniel at full capacity — the 3h overlap is a collaboration constraint, not lost hours. Halima (QA): 29 days. Kelechi: ~9 days at 30%.</a:t>
            </a:r>
            <a:endParaRPr lang="en-US" sz="9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589520" y="1234440"/>
          <a:ext cx="4050792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029200"/>
            <a:ext cx="3544824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" y="5120640"/>
            <a:ext cx="3215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0.5 pts / engineer-day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13232" y="5440680"/>
            <a:ext cx="32156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Last two sprints delivered 21 and 19 pts on 40 engineer-days each. That number already includes meetings, support and context-switching — so no second focus-factor haircut.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322064" y="5029200"/>
            <a:ext cx="3544824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86656" y="5120640"/>
            <a:ext cx="3215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45.5 pts forecast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486656" y="5440680"/>
            <a:ext cx="32156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0.5 × the 91 build engineer-days in W1–W5. Week 6 adds no new scope: its 20 engineer-days go to regression, defect fixes and submission support.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95488" y="5029200"/>
            <a:ext cx="3544824" cy="1325880"/>
          </a:xfrm>
          <a:prstGeom prst="roundRect">
            <a:avLst>
              <a:gd name="adj" fmla="val 551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60080" y="5120640"/>
            <a:ext cx="3215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38 pts committed (84%)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260080" y="5440680"/>
            <a:ext cx="32156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7.5 pts held back to absorb a NovaWallet slip or production support. After committing 34 and delivering 21, the team needs to see a plan it can actually hit.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1 · 6-WEEK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Trade-offs: what gets protected, deferred and cut — and why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Original quarter backlog: </a:t>
            </a: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61 pts</a:t>
            </a:r>
            <a:r>
              <a:rPr lang="en-US" sz="13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    Forecast capacity: </a:t>
            </a: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45.5 pts</a:t>
            </a:r>
            <a:r>
              <a:rPr lang="en-US" sz="13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    Committed to CBN scope: </a:t>
            </a:r>
            <a:r>
              <a:rPr lang="en-US" sz="1300" b="1" dirty="0">
                <a:solidFill>
                  <a:srgbClr val="1E7B4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38 pts</a:t>
            </a:r>
            <a:r>
              <a:rPr lang="en-US" sz="13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    Moved out: </a:t>
            </a:r>
            <a:r>
              <a:rPr lang="en-US" sz="1300" b="1" dirty="0">
                <a:solidFill>
                  <a:srgbClr val="B4231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23 pts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160520" cy="3703320"/>
          </a:xfrm>
          <a:prstGeom prst="roundRect">
            <a:avLst>
              <a:gd name="adj" fmla="val 1975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1E7B4F"/>
          </a:solidFill>
          <a:ln w="12700">
            <a:solidFill>
              <a:srgbClr val="1E7B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91640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PROTECT · 38 pts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7627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Everything the CBN report needs to be correct and auditable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640080" y="2487168"/>
          <a:ext cx="3977640" cy="2779776"/>
        </p:xfrm>
        <a:graphic>
          <a:graphicData uri="http://schemas.openxmlformats.org/drawingml/2006/table">
            <a:tbl>
              <a:tblPr/>
              <a:tblGrid>
                <a:gridCol w="411480"/>
                <a:gridCol w="356616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B4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8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NovaWallet Ledger Events integration (idempotent, retries)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B4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8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Repayment &amp; days-past-due (DPD) engine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B4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Loan-level data model &amp; CBN field mapping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B4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Regulatory extract generator + schema validation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B4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Reconciliation vs loan book + exception report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B4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3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Audit trail &amp; immutable report snapshots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B4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Compliance review &amp; approval screen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B4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Submission runbook + job-failure alerting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937760" y="1691640"/>
            <a:ext cx="3291840" cy="3703320"/>
          </a:xfrm>
          <a:prstGeom prst="roundRect">
            <a:avLst>
              <a:gd name="adj" fmla="val 2222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169164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1691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DEFER to November · 18 pts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21762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Real value, no regulatory date</a:t>
            </a:r>
            <a:endParaRPr lang="en-US" sz="950" dirty="0"/>
          </a:p>
        </p:txBody>
      </p:sp>
      <p:graphicFrame>
        <p:nvGraphicFramePr>
          <p:cNvPr id="16" name="Table 1"/>
          <p:cNvGraphicFramePr>
            <a:graphicFrameLocks noGrp="1"/>
          </p:cNvGraphicFramePr>
          <p:nvPr/>
        </p:nvGraphicFramePr>
        <p:xfrm>
          <a:off x="5029200" y="2487168"/>
          <a:ext cx="3108960" cy="1700784"/>
        </p:xfrm>
        <a:graphic>
          <a:graphicData uri="http://schemas.openxmlformats.org/drawingml/2006/table">
            <a:tbl>
              <a:tblPr/>
              <a:tblGrid>
                <a:gridCol w="411480"/>
                <a:gridCol w="269748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Borrower loan-statement redesign — customer polish; frees Kelechi for the review screen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8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BNPL merchant onboarding (NovaBiz) — revenue, not regulation; PO resets expectations 23 Sep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Credit model v2 tuning — changing scoring mid-build changes the loans we're reporting on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8458200" y="1691640"/>
            <a:ext cx="3182112" cy="3703320"/>
          </a:xfrm>
          <a:prstGeom prst="roundRect">
            <a:avLst>
              <a:gd name="adj" fmla="val 2299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58200" y="1691640"/>
            <a:ext cx="3182112" cy="411480"/>
          </a:xfrm>
          <a:prstGeom prst="roundRect">
            <a:avLst>
              <a:gd name="adj" fmla="val 13333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595360" y="1691640"/>
            <a:ext cx="29077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CUT / DE-SCOPE · 5 pts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2176272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Replaced by something simpler</a:t>
            </a:r>
            <a:endParaRPr lang="en-US" sz="950" dirty="0"/>
          </a:p>
        </p:txBody>
      </p:sp>
      <p:graphicFrame>
        <p:nvGraphicFramePr>
          <p:cNvPr id="21" name="Table 2"/>
          <p:cNvGraphicFramePr>
            <a:graphicFrameLocks noGrp="1"/>
          </p:cNvGraphicFramePr>
          <p:nvPr/>
        </p:nvGraphicFramePr>
        <p:xfrm>
          <a:off x="8549640" y="2487168"/>
          <a:ext cx="2999232" cy="1133856"/>
        </p:xfrm>
        <a:graphic>
          <a:graphicData uri="http://schemas.openxmlformats.org/drawingml/2006/table">
            <a:tbl>
              <a:tblPr/>
              <a:tblGrid>
                <a:gridCol w="411480"/>
                <a:gridCol w="2587752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3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Automated CBN portal submission → manual upload with four-eyes checklist on 28 Oct; automate in Nov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Leadership analytics dashboard → CSV export; no one outside Compliance needs it before 30 Oct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548640" y="55321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5532120"/>
            <a:ext cx="10744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Protected under any pressure: </a:t>
            </a: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reconciliation to ₦0 variance · audit trail · full regression on disbursement &amp; repayment · named Compliance sign-off · no planned weekend work. After two missed sprints, overtime would spend the trust this plan is trying to rebuild. Deferred ≠ dropped: all 18 pts sit at the top of the November backlog.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1 · 6-WEEK PLAN  ·  STRETCH: BURN-UP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Burn-up to the deadline — and the order I cut in if we fall behind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280160"/>
          <a:ext cx="6309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97880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Tracked every Thursday 16:00 WAT from Jira; W6 is flat by design (hardening). At W5 the 7.5-pt gap between forecast capacity and planned done is the buffer.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13258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If we slip, cut in this order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78040" y="1783080"/>
            <a:ext cx="4462272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0" y="2029968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1874520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Trigger: </a:t>
            </a:r>
            <a:r>
              <a:rPr lang="en-US" sz="100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Burn-up &gt;4 pts behind plan at end of W3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Replace the Compliance review screen with a sign-off form + restricted folder (−2 pts)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78040" y="2862072"/>
            <a:ext cx="4462272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0" y="310896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0" y="3108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2953512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Trigger: </a:t>
            </a:r>
            <a:r>
              <a:rPr lang="en-US" sz="100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NovaWallet API not in staging by Fri 9 Oct, 12:00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Switch to nightly ledger extract fallback; API integration moves to November (−8 pts, +3 pts)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178040" y="3941064"/>
            <a:ext cx="4462272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0" y="4187952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0" y="4187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4032504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Trigger: </a:t>
            </a:r>
            <a:r>
              <a:rPr lang="en-US" sz="100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Still behind at Sprint 2 review, Fri 16 Oct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Job-failure alerting becomes a manual daily check in the runbook (−1 pt)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78040" y="5020056"/>
            <a:ext cx="4462272" cy="960120"/>
          </a:xfrm>
          <a:prstGeom prst="roundRect">
            <a:avLst>
              <a:gd name="adj" fmla="val 7619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0" y="5266944"/>
            <a:ext cx="457200" cy="45720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0" y="5266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909560" y="5111496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Trigger: </a:t>
            </a:r>
            <a:r>
              <a:rPr lang="en-US" sz="100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Protected items themselves at risk on 23 Oct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Nothing else is cut. Head of Digital Factory and Compliance are told the same day — not on 29 Oct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178040" y="6126480"/>
            <a:ext cx="446227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Triggers are agreed with Adaeze (PO) on 22 Sep, so cutting is a pre-made decision, not a debate under stress.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1 · 6-WEEK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Ceremony cadence — live sessions sit inside the 3-hour overlap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325880"/>
          <a:ext cx="11091672" cy="4937760"/>
        </p:xfrm>
        <a:graphic>
          <a:graphicData uri="http://schemas.openxmlformats.org/drawingml/2006/table">
            <a:tbl>
              <a:tblPr/>
              <a:tblGrid>
                <a:gridCol w="1691640"/>
                <a:gridCol w="2148840"/>
                <a:gridCol w="1097280"/>
                <a:gridCol w="1005840"/>
                <a:gridCol w="1920240"/>
                <a:gridCol w="3227832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Ceremony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When (WAT)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Toronto (EDT)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Length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Who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Why it's set up this way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Daily standup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Mon–Fri 14:15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09:15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15 min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Squad; PO optional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Old 09:30 slot was 04:30 for Daniel — he missed live decisions for two sprints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Sprint planning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Tue 22 Sep, Mon 5 Oct, Mon 19 Oct · 14:00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09:00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2.5h (S3: 1h)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Squad + PO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Goal &amp; top stories posted Fri; async comments by Mon 12:00; live time for sizing and commitment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Refinement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Wed 15:00, first week of sprint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10:00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60 min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PO, Tunde, Halima, Daniel, Kelechi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~40% of CBN stories lack acceptance criteria — nothing enters a sprint without AC + test notes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NovaWallet dependency sync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Tue 11:00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06:00 (not required)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30 min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Deborah, Tunde, NovaWallet SM + lead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Notes posted by 12:00 with @Daniel tags; RAG feeds Thursday update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Sprint review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Fri 2, 16, 23 Oct · 14:00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09:00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60 min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Squad + Compliance analyst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Regulator-facing: Compliance sees working output every sprint, not in W6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Retrospective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Mon 21 Sep (reset) · Fri 2, 16, 23, 30 Oct · 15:15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10:15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75 min (23 Oct: 45)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Squad + PO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Miro board opens Wednesday so everyone can add input before the live session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Burn-up check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Thu 16:00 (Wed 30 Sep, holiday week)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11:00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15 min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Deborah, Adaeze, Tunde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Checks cut-order triggers; feeds 17:00 leadership update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Leadership update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Thu 17:00 (written)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—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—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Deborah → Eng leadership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Format and sample on slides 14–15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2 · RAID LOG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RAID log (1 of 2) — risks that could cost us 30 October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298448"/>
          <a:ext cx="11091672" cy="5047488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3063240"/>
                <a:gridCol w="777240"/>
                <a:gridCol w="1417320"/>
                <a:gridCol w="3456432"/>
                <a:gridCol w="96012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ID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Type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Description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Severity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Owner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Mitigation / next action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Date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R1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Risk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NovaWallet Ledger Events API v2 misses staging (due Fri 2 Oct). Squad has slipped before; without it there is no repayment data for the report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High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Deborah Agbanimu (SM)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Signed OpenAPI contract by 25 Sep; Daniel builds on a mock from W1; go/no-go Fri 9 Oct 12:00 → nightly extract fallback; escalation ladder (slide 19)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Weekly Tue; decide 9 Oct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R2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Risk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Our reading of CBN field definitions (DPD buckets, restructured loans) differs from Compliance's → rework discovered in W5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High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Adaeze Okafor (PO)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Field-by-field walkthrough with Compliance Wed 23 Sep; sample extract reviewed at Sprint 1 review Fri 2 Oct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23 Sep / 2 Oct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R3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Risk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 third missed sprint breaks morale; unplanned overtime to 'catch up' leads to burnout or someone leaving before 30 Oct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High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Deborah Agbanimu (SM)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Commit at ~85% of delivered velocity; no planned weekend work; 1:1s with all 7 in W1; make the Sprint 1 win visible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1:1s by 25 Sep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R4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Risk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Reconciliation knowledge sits with Chiamaka, who is on approved leave 12–16 Oct in the middle of Sprint 2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5B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Medium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Tunde Bakare (tech lead)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Daniel pairs on reconciliation 28 Sep–9 Oct in the overlap window; recorded walkthrough + handover doc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7 Oct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R5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Risk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One QA engineer on a regulated release; testing piles up at sprint end — a likely contributor to both misses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High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Halima Yusuf (QA)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WIP limit of 2 in 'Ready for QA'; engineers ship API tests in the same PR; test cases written at refinement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Checked Thu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R6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Risk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Daniel's PRs wait overnight for Lagos review, adding roughly a day to every change he makes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5B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Medium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Tunde Bakare (tech lead)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Daniel's PRs reviewed by 12:00 WAT next day; named Lagos review buddy; live reviews 14:30–17:00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From 22 Sep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A1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Assumption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'Ready' = validated loan-level extract + reconciliation + Compliance sign-off, uploaded manually — not an automated CBN integration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High if wrong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Adaeze Okafor (PO)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Confirm in writing with Compliance on 23 Sep. If wrong, re-plan scope that same week while there's room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23 Sep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2 · RAID LOG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RAID log (2 of 2) — assumptions, issues and dependencies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298448"/>
          <a:ext cx="11091672" cy="4370832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3063240"/>
                <a:gridCol w="777240"/>
                <a:gridCol w="1417320"/>
                <a:gridCol w="3456432"/>
                <a:gridCol w="96012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ID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Type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Description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Severity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Owner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Mitigation / next action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Date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A2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Assumption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Masked production-like loan data is available in UAT by Wed 14 Oct for the first end-to-end dry run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5B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Medium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Tunde Bakare (tech lead)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InfoSec request raised Tue 22 Sep; synthetic dataset built in Sprint 1 so the dry run can run on it if approval is late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14 Oct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I1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Issue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Two consecutive missed sprints: committed 34 and 32 pts, delivered 21 and 19. Commitments were set on hope, not data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High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Deborah Agbanimu (SM)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Re-baseline on delivered velocity (0.5 pts/engineer-day); reset retro Mon 21 Sep; burn-up visible on the team board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22 Sep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I2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Issue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About 40% of CBN stories have no acceptance criteria or test notes — Halima can't test what isn't defined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High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Adaeze Okafor (PO)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Refinement blitz 22–24 Sep; rule: no story enters a sprint without AC + test notes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24 Sep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I3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Issue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09:30 WAT standup is 04:30 for Daniel; he has been excluded from live decisions for two sprints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5B00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Medium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Deborah Agbanimu (SM)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Move standup to 14:15 WAT from 22 Sep; decisions logged in #novalend-decisions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22 Sep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D1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Dependency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NovaWallet Ledger Events API v2 (disbursement, repayment, reversal events) — staging Fri 2 Oct, production Fri 16 Oct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High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Segun Alabi (NovaWallet EM) · tracked by Deborah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On NovaWallet's sprint board as a committed item; contract tests in CI; RAG in Tue sync and Thu update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 Oct / 16 Oct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D2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Dependency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Compliance/Risk availability for sign-off: sample on Fri 16 Oct, final on Tue 27 Oct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2318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High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Adaeze Okafor (PO)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Calendar slots booked on 23 Sep with a named approver and a named deputy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23 Sep</a:t>
                      </a:r>
                      <a:endParaRPr lang="en-US" sz="9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3 · RETRO FACILITATION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Reset retro — built so it doesn't end in 'we'll estimate better' again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 21 Sep  ·  14:00–15:30 WAT / 09:00–10:30 Toronto  ·  Meet + Miro, own laptops  ·  Squad + PO (7)  ·  Facilitator: Deborah  ·  No managers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Before the room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31720"/>
            <a:ext cx="333756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Thu 17 Sep — anonymous 3-question form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(no sign-in; Daniel answers on his own time)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1. On Day 1 of the last two sprints, how confident were you in the commitment? (1–5)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2. What slowed you down that nobody says out loud?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3. What's one thing you'd stop doing tomorrow?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Fri 18 Sep — 20-min 1:1s with Tunde and Adaeze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The two strongest voices. I ask them to speak last and help me hear others.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Fri 18 Sep — pull the facts from Jira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Committed vs delivered, time in each board column, carried-over tickets — pinned on the Miro timeline so we argue about data, not memory.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874520"/>
            <a:ext cx="7205472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93392"/>
            <a:ext cx="585216" cy="58521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99339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10'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947672"/>
            <a:ext cx="16002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Set the stage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929384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Say what this isn't: not a post-mortem on people, not a performance review. I'm new — 'help me understand'. Anonymous ESVP check-in (Explorer / Shopper / Vacationer / Prisoner) and survey headlines.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4840" y="2788920"/>
            <a:ext cx="7205472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907792"/>
            <a:ext cx="585216" cy="58521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90779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25'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862072"/>
            <a:ext cx="16002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Gather data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843784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Two-sprint timeline on Miro. 8 min silent writing: green = helped, red = hurt, blue = work waited. Then 1-2-4-All on 'where did work wait longest?' (Daniel paired with Halima in a breakout).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34840" y="3703320"/>
            <a:ext cx="7205472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822192"/>
            <a:ext cx="585216" cy="58521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382219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25'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776472"/>
            <a:ext cx="16002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Generate insights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758184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Cluster sticky notes, 3 dots each. Top 2 themes go through Circles &amp; Soup: what we control, what we influence, what's soup (NovaWallet's roadmap, the CBN date).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4617720"/>
            <a:ext cx="7205472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736592"/>
            <a:ext cx="585216" cy="58521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473659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20'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4690872"/>
            <a:ext cx="16002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Decide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672584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Maximum 3 experiments, only from 'control' or 'influence'. Each needs a volunteer owner, a date inside Sprint 1 and a visible check.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34840" y="5532120"/>
            <a:ext cx="7205472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5650992"/>
            <a:ext cx="585216" cy="58521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0" y="565099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10'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5605272"/>
            <a:ext cx="16002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Close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5586984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Return on Time Invested (1–5), optional one-line appreciation, confirm who gets a follow-up 1:1 this week.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3 · RETRO FACILITATION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The questions I'll ask — and how I handle who talks and who doesn't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Questions, word for word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993392"/>
            <a:ext cx="384048" cy="384048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920240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“On Day 1 of each missed sprint, what did we already know that made 34 points unlikely?”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706624"/>
            <a:ext cx="384048" cy="384048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706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633472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“Where did work sit waiting longest — build, code review, QA, or NovaWallet?”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419856"/>
            <a:ext cx="384048" cy="384048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19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346704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“When did you first think we'd miss? What happened to that signal?”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133088"/>
            <a:ext cx="384048" cy="384048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133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059936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“Daniel — which decisions did you only find out about the next morning?”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846320"/>
            <a:ext cx="384048" cy="384048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846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773168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“Of the reasons we missed, which were genuinely NovaWallet, and which were ours?”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559552"/>
            <a:ext cx="384048" cy="384048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5595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5486400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“It's 30 October. We submitted on time and nobody burnt out. What did we do differently from the last two sprints?”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325880"/>
            <a:ext cx="5468112" cy="2423160"/>
          </a:xfrm>
          <a:prstGeom prst="roundRect">
            <a:avLst>
              <a:gd name="adj" fmla="val 301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14173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If one voice dominates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1755648"/>
            <a:ext cx="516636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Before: 1:1s with Tunde and Adaeze — ask them to speak last on each topic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Structure does the work: silent writing before any talking; round-robin with 60-second turns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 the moment: “Tunde, that's useful — hold it. I want Halima and Daniel first.”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PO and I don't dot-vote on commitment topics — the power gradient is real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Deep technical debates go to a parking lot + 30-min follow-up this week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931920"/>
            <a:ext cx="5468112" cy="2423160"/>
          </a:xfrm>
          <a:prstGeom prst="roundRect">
            <a:avLst>
              <a:gd name="adj" fmla="val 301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40233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Drawing out quiet voices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4361688"/>
            <a:ext cx="516636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Anonymous survey read back as themes, never attributed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Daniel speaks first in every round-robin — remote people otherwise go last, or not at all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Pairs before plenary; low-stakes openers (“What surprised you?”)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Everyone on their own laptop, same Miro board — no conference-room screen that makes Daniel a face on the wall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1:1 within 48h with anyone who said little: “What didn't you want to say in the room?”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3 · RETRO FACILITATION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Turning retro output into owned actions with dates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392424" cy="640080"/>
          </a:xfrm>
          <a:prstGeom prst="roundRect">
            <a:avLst>
              <a:gd name="adj" fmla="val 11429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Top 2 dot-voted themes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05072" y="1645920"/>
            <a:ext cx="329184" cy="914"/>
          </a:xfrm>
          <a:prstGeom prst="line">
            <a:avLst/>
          </a:prstGeom>
          <a:noFill/>
          <a:ln w="31750">
            <a:solidFill>
              <a:srgbClr val="D4A4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98264" y="1325880"/>
            <a:ext cx="3392424" cy="640080"/>
          </a:xfrm>
          <a:prstGeom prst="roundRect">
            <a:avLst>
              <a:gd name="adj" fmla="val 11429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5424" y="1325880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Circles &amp; Soup: keep only 'control' and 'influence'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54696" y="1645920"/>
            <a:ext cx="329184" cy="914"/>
          </a:xfrm>
          <a:prstGeom prst="line">
            <a:avLst/>
          </a:prstGeom>
          <a:noFill/>
          <a:ln w="31750">
            <a:solidFill>
              <a:srgbClr val="D4A4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47888" y="1325880"/>
            <a:ext cx="3392424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1325880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≤3 experiments · a named owner · a date · a visible check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1488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Illustrative output — the real list comes from the room. This is what 'good' looks like if the themes are 'over-commitment' and 'work waiting in QA':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2514600"/>
          <a:ext cx="11091672" cy="2468880"/>
        </p:xfrm>
        <a:graphic>
          <a:graphicData uri="http://schemas.openxmlformats.org/drawingml/2006/table">
            <a:tbl>
              <a:tblPr/>
              <a:tblGrid>
                <a:gridCol w="457200"/>
                <a:gridCol w="4937760"/>
                <a:gridCol w="1828800"/>
                <a:gridCol w="1097280"/>
                <a:gridCol w="27706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#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Experiment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Owner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By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How we'll know it worked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Commit Sprint 1 at 15 pts based on delivered velocity; sprint goal: 'sample CBN extract from mock data, reviewed by Compliance'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Adaeze Okafor (PO)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Tue 22 Sep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Sprint 1 closes 15/15 on Fri 2 Oct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2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WIP limit of 2 in 'Ready for QA'; engineers write API tests in the same PR instead of handing off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Halima Yusuf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Tue 22 Sep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QA column ≤2 at every Thursday burn-up check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3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Lagos reviews Daniel's PRs by 12:00 WAT next day; review buddy rota set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Tunde Bakare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Wed 23 Sep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Median PR wait &lt; 1 working day by Fri 2 Oct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A6F12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SM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Move standup to 14:15 WAT; set up #novalend-decisions. Logistics I own — it doesn't use up one of the team's three experiment slots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Deborah Agbanimu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Tue 22 Sep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Daniel at 5/5 standups in Week 1</a:t>
                      </a:r>
                      <a:endParaRPr lang="en-US" sz="105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5120640"/>
            <a:ext cx="3544824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5212080"/>
            <a:ext cx="32156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On the board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5513832"/>
            <a:ext cx="3215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Each action becomes a Sprint 1 ticket labelled retro-action — visible in standup, not in a doc no one opens.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322064" y="5120640"/>
            <a:ext cx="3544824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86656" y="5212080"/>
            <a:ext cx="32156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Posted within 1 hour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486656" y="5513832"/>
            <a:ext cx="3215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Summary in #novalend: themes, 3 experiments, owners, dates. Daniel sees it in his own working hours.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95488" y="5120640"/>
            <a:ext cx="3544824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60080" y="5212080"/>
            <a:ext cx="32156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Checked first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60080" y="5513832"/>
            <a:ext cx="3215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The next retro (Fri 2 Oct) opens with 5 minutes: each experiment kept, changed or dropped — with the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4 · STAKEHOLDER COMMS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Right information, right audience, right cadence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3575304" cy="5056632"/>
          </a:xfrm>
          <a:prstGeom prst="roundRect">
            <a:avLst>
              <a:gd name="adj" fmla="val 204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98448"/>
            <a:ext cx="3575304" cy="960120"/>
          </a:xfrm>
          <a:prstGeom prst="roundRect">
            <a:avLst>
              <a:gd name="adj" fmla="val 571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7160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WEEKLY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1609344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Engineering leadership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193852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4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Head of Engineering · NovaLend EM · NovaWallet EM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40080" y="2359152"/>
          <a:ext cx="3392424" cy="3886200"/>
        </p:xfrm>
        <a:graphic>
          <a:graphicData uri="http://schemas.openxmlformats.org/drawingml/2006/table">
            <a:tbl>
              <a:tblPr/>
              <a:tblGrid>
                <a:gridCol w="868680"/>
                <a:gridCol w="2523744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When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Thursdays 17:00 WAT, 24 Sep → 29 Oct (6 updates)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Channel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Email, linked in #df-eng-leads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They get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RAG + reason · burn-up vs plan · NovaWallet status vs need-by date · top 3 risks, each with an ask · decisions needed, with a deadline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Leave out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Story-level detail; anything about individual performance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Format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One screen. Decision first. Sample on next slide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306824" y="1298448"/>
            <a:ext cx="3575304" cy="5056632"/>
          </a:xfrm>
          <a:prstGeom prst="roundRect">
            <a:avLst>
              <a:gd name="adj" fmla="val 204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6824" y="1298448"/>
            <a:ext cx="3575304" cy="960120"/>
          </a:xfrm>
          <a:prstGeom prst="roundRect">
            <a:avLst>
              <a:gd name="adj" fmla="val 571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1416" y="137160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MONTHLY</a:t>
            </a:r>
            <a:endParaRPr lang="en-US" sz="1050" dirty="0"/>
          </a:p>
        </p:txBody>
      </p:sp>
      <p:sp>
        <p:nvSpPr>
          <p:cNvPr id="11" name="Text 12"/>
          <p:cNvSpPr txBox="1"/>
          <p:nvPr/>
        </p:nvSpPr>
        <p:spPr>
          <a:xfrm>
            <a:off x="4471416" y="1609344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Head of Digital Factory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471416" y="193852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4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Via DF leadership meeting</a:t>
            </a:r>
            <a:endParaRPr lang="en-US" sz="9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/>
        </p:nvGraphicFramePr>
        <p:xfrm>
          <a:off x="4398264" y="2359152"/>
          <a:ext cx="3392424" cy="3886200"/>
        </p:xfrm>
        <a:graphic>
          <a:graphicData uri="http://schemas.openxmlformats.org/drawingml/2006/table">
            <a:tbl>
              <a:tblPr/>
              <a:tblGrid>
                <a:gridCol w="868680"/>
                <a:gridCol w="2523744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When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Mon 5 Oct (5-min slot + 1-pager) · Mon 2 Nov (post-submission)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Exception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Same-day call if the 23 Oct feature freeze is at risk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They get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Confidence in 30 Oct (High/Med/Low) and why · regulatory exposure · what was deferred to protect the date · cross-squad priority calls needed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Leave out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Story points, velocity, sprint mechanics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Format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1 page; three sentences at the top they could repeat upward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8065008" y="1298448"/>
            <a:ext cx="3575304" cy="5056632"/>
          </a:xfrm>
          <a:prstGeom prst="roundRect">
            <a:avLst>
              <a:gd name="adj" fmla="val 204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65008" y="1298448"/>
            <a:ext cx="3575304" cy="960120"/>
          </a:xfrm>
          <a:prstGeom prst="roundRect">
            <a:avLst>
              <a:gd name="adj" fmla="val 571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0" y="137160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ONE-OFF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8229600" y="1609344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Compliance / Risk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0" y="193852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4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Head of Compliance + named approver</a:t>
            </a:r>
            <a:endParaRPr lang="en-US" sz="95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/>
        </p:nvGraphicFramePr>
        <p:xfrm>
          <a:off x="8156448" y="2359152"/>
          <a:ext cx="3392424" cy="3886200"/>
        </p:xfrm>
        <a:graphic>
          <a:graphicData uri="http://schemas.openxmlformats.org/drawingml/2006/table">
            <a:tbl>
              <a:tblPr/>
              <a:tblGrid>
                <a:gridCol w="868680"/>
                <a:gridCol w="2523744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When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Wed 23 Sep, after the field-mapping walkthrough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Channel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Formal email from PO + SM; sign-off slots sent as invites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They get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What 'ready' means for submission (A1) · deadline risk rating: Amber · biggest risk (NovaWallet) + fallback and its 9 Oct decision date · what we need from them: 23 Sep, 16 Oct, 27 Oct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Trigger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If freeze slips past 23 Oct they hear within 24h, so they can decide whether to engage CBN early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Leave out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anose="020B0704020202020204" pitchFamily="34" charset="0"/>
                          <a:ea typeface="Arial" panose="020B0704020202020204" pitchFamily="34" charset="-122"/>
                          <a:cs typeface="Arial" panose="020B0704020202020204" pitchFamily="34" charset="-120"/>
                        </a:rPr>
                        <a:t>Technical implementation detail</a:t>
                      </a:r>
                      <a:endParaRPr lang="en-US" sz="1000" dirty="0">
                        <a:latin typeface="Arial" panose="020B0704020202020204" pitchFamily="34" charset="0"/>
                        <a:ea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45720" marR="4572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4 · SAMPLE WEEKLY STATUS UPDATE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Sample weekly update — Week 3, Thursday 8 October 2026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7818120" cy="5102352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7818120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35024"/>
            <a:ext cx="7543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To: </a:t>
            </a:r>
            <a:r>
              <a:rPr lang="en-US" sz="10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Head of Engineering   </a:t>
            </a:r>
            <a:r>
              <a:rPr lang="en-US" sz="100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Cc: </a:t>
            </a:r>
            <a:r>
              <a:rPr lang="en-US" sz="10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EM, Segun Alabi (NovaWallet EM), Adaeze Okafor (PO)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Subject: </a:t>
            </a:r>
            <a:r>
              <a:rPr lang="en-US" sz="10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[AMBER] NovaLend CBN reporting — W3 status — decision needed by Fri 9 Oct, 12:00 WAT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1993392"/>
            <a:ext cx="7498080" cy="434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BOTTOM LINE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AMBER. Our own build is on plan. Fri 30 Oct is at risk for one reason: NovaWallet's Ledger Events API v2 missed staging (due 2 Oct); their new date is Wed 14 Oct.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DECISION NEEDED — Head of Engineering, by Fri 9 Oct 12:00 WAT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 (recommended): approve the nightly ledger-extract fallback now. Cost: 1 NovaWallet engineer × 2 days (12–13 Oct) + read-replica access from Data Platform; 3 pts for us. API integration moves to November.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B: wait for 14 Oct. Integration then needs ~6 engineer-days inside Sprint 3, leaving zero buffer before the 23 Oct freeze. One more slip and we miss CBN.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 decision by 12:00 → we prepare A on our side only (no NovaWallet effort spent) so the weekend isn't lost. Segun agrees with this recommendation.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PROGRESS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19 of 38 committed pts done; plan for Fri is 23. 3 pts in QA → expect 22 by Fri close (1 pt behind, within buffer). Sprint 1 delivered 15/15 — first sprint met in three. CBN field mapping signed off by Compliance 6 Oct; DPD engine passing all 42 test cases on the mock.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NEXT WEEK (12–16 Oct)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Reconciliation job + extract generator; first end-to-end dry run Thu 15 Oct. Chiamaka on approved leave — reconciliation handed to Daniel (walkthrough recorded 7 Oct).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RISKS &amp; ASKS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1. NovaWallet API — High — decision above.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2. Masked UAT data — Medium — InfoSec ticket SEC-2291 open since 22 Sep, needed by 14 Oct. Ask: please nudge the InfoSec lead today.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3. QA load in Sprint 3 — Medium — WIP limit holding (queue at 2). No action needed.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i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Next update Thu 15 Oct, 17:00 WAT · Deborah Agbanimu, Scrum Master, NovaLend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1280160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Why a lead can act on this without a meeting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0" y="1874520"/>
            <a:ext cx="3044952" cy="804672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32520" y="1920240"/>
            <a:ext cx="281635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Decision first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What, who decides, by when — and what happens if nobody answers.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95360" y="2770632"/>
            <a:ext cx="3044952" cy="804672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32520" y="2816352"/>
            <a:ext cx="281635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Options are costed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People-days, access and consequence, so the choice needs no follow-up call.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95360" y="3666744"/>
            <a:ext cx="3044952" cy="804672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3712464"/>
            <a:ext cx="281635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Numbers vs plan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19 vs 23 planned tells them how worried to be; '50% done' wouldn't.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95360" y="4562856"/>
            <a:ext cx="3044952" cy="804672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32520" y="4608576"/>
            <a:ext cx="281635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Every risk has an ask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Or says 'no action needed', so leaders don't guess.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95360" y="5458968"/>
            <a:ext cx="3044952" cy="804672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32520" y="5504688"/>
            <a:ext cx="281635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 surprise for NovaWallet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Segun is cc'd and already agreed — this isn't escalating around him.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5 · CEREMONY REDESIGN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Redesigned so Daniel takes part live — not 'catch up async'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89888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Standup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801368"/>
            <a:ext cx="3300984" cy="868680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801368"/>
            <a:ext cx="307238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231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BEFORE  </a:t>
            </a: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09:30 WAT = 04:30 in Toronto. Daniel posted written updates nobody read, and blockers waited a day.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88920"/>
            <a:ext cx="320954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7B4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AFTER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3300984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14:15 WAT / 09:15 Toronto, 15 min, walk the board right-to-left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Facilitator rotates — Daniel runs Thursdays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His blockers are worked in the 14:30–17:00 window, same day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Lagos cost, acknowledged: #novalend-blockers triaged by me at 10:00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6824" y="1298448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9704" y="1389888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Sprint planning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3984" y="1801368"/>
            <a:ext cx="3300984" cy="868680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62856" y="1801368"/>
            <a:ext cx="307238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231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BEFORE  </a:t>
            </a: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Mon 10:00 WAT. Daniel was handed tasks afterwards and never sized his own work.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489704" y="2788920"/>
            <a:ext cx="320954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7B4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AFTER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443984" y="3017520"/>
            <a:ext cx="3300984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PO posts goal + top stories Fri 15:00 WAT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Everyone comments in the doc by Mon 12:00 WAT — Daniel on Friday afternoon his time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Live 14:00–16:30 WAT only for sizing debates and commitment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Daniel breaks down the ingestion stories live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1298448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47888" y="1389888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Retro &amp; review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02168" y="1801368"/>
            <a:ext cx="3300984" cy="868680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1801368"/>
            <a:ext cx="307238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231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BEFORE  </a:t>
            </a: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Friday morning. Daniel joined the retro at 05:00 or not at all; Lagos engineers demoed his work.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2788920"/>
            <a:ext cx="320954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7B4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AFTER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02168" y="3017520"/>
            <a:ext cx="3300984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Retro Fri 15:15 WAT / 10:15 Toronto; Miro opens Wed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Daniel speaks first in every round; everyone on own laptop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Review 14:00 WAT — Daniel demos his own work to Compliance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At least one action co-owned by Daniel when it touches his area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76672"/>
            <a:ext cx="11091672" cy="987552"/>
          </a:xfrm>
          <a:prstGeom prst="roundRect">
            <a:avLst>
              <a:gd name="adj" fmla="val 740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Team agreements that make it work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715000"/>
            <a:ext cx="107442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① 14:30–17:00 WAT is protected — no external meetings for the squad.   ② Decisions touching Daniel's area go in #novalend-decisions and become final after one of his working sessions, unless deadline-critical.   ③ Daniel posts a handoff by 21:30 WAT; Lagos answers by 10:00.   ④ His PRs are reviewed by 12:00 WAT next day.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5 · ONE CONCRETE 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One concrete day: Tuesday 6 October 2026 (Sprint 2, Day 2)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33288" y="1783080"/>
            <a:ext cx="1975104" cy="2240280"/>
          </a:xfrm>
          <a:prstGeom prst="rect">
            <a:avLst/>
          </a:prstGeom>
          <a:solidFill>
            <a:srgbClr val="D4A437">
              <a:alpha val="22000"/>
            </a:srgbClr>
          </a:solidFill>
          <a:ln w="12700">
            <a:solidFill>
              <a:srgbClr val="D4A437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508760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08:00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03:00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67128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09:00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167128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04:00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41448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25496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10:00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825496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05:00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99816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3864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11:00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483864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06:00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58184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42232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12:00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142232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07:00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16552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13:00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08:00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74920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58968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14:00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458968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09:00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33288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17336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15:00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117336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10:00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91656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75704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16:00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775704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11:00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050024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34072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17:00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7434072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12:00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708392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92440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18:00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13:00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366760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50808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19:00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750808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14:00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25128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409176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20:00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9409176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15:00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683496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67544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21:00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10067544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16:00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341864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725912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22:00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0725912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17:00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000232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1384280" y="1261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23:00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1384280" y="146304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18:00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658600" y="1691640"/>
            <a:ext cx="0" cy="2331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126187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WAT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14630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Toronto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196596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Lagos squad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301752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Daniel (Toronto)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801368" y="1965960"/>
            <a:ext cx="621792" cy="731520"/>
          </a:xfrm>
          <a:prstGeom prst="roundRect">
            <a:avLst>
              <a:gd name="adj" fmla="val 588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59736" y="1965960"/>
            <a:ext cx="621792" cy="731520"/>
          </a:xfrm>
          <a:prstGeom prst="roundRect">
            <a:avLst>
              <a:gd name="adj" fmla="val 5882"/>
            </a:avLst>
          </a:prstGeom>
          <a:solidFill>
            <a:srgbClr val="1632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496312" y="196596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Review Daniel's PRs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118104" y="1965960"/>
            <a:ext cx="621792" cy="731520"/>
          </a:xfrm>
          <a:prstGeom prst="roundRect">
            <a:avLst>
              <a:gd name="adj" fmla="val 5882"/>
            </a:avLst>
          </a:prstGeom>
          <a:solidFill>
            <a:srgbClr val="2F4A73"/>
          </a:solidFill>
          <a:ln w="12700">
            <a:solidFill>
              <a:srgbClr val="2F4A7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154680" y="196596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Build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776472" y="1965960"/>
            <a:ext cx="621792" cy="731520"/>
          </a:xfrm>
          <a:prstGeom prst="roundRect">
            <a:avLst>
              <a:gd name="adj" fmla="val 5882"/>
            </a:avLst>
          </a:prstGeom>
          <a:solidFill>
            <a:srgbClr val="9A6F12"/>
          </a:solidFill>
          <a:ln w="12700">
            <a:solidFill>
              <a:srgbClr val="9A6F1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813048" y="196596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NovaWallet sync + notes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434840" y="1965960"/>
            <a:ext cx="621792" cy="731520"/>
          </a:xfrm>
          <a:prstGeom prst="roundRect">
            <a:avLst>
              <a:gd name="adj" fmla="val 5882"/>
            </a:avLst>
          </a:prstGeom>
          <a:solidFill>
            <a:srgbClr val="2F4A73"/>
          </a:solidFill>
          <a:ln w="12700">
            <a:solidFill>
              <a:srgbClr val="2F4A7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471416" y="196596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Build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093208" y="1965960"/>
            <a:ext cx="621792" cy="731520"/>
          </a:xfrm>
          <a:prstGeom prst="roundRect">
            <a:avLst>
              <a:gd name="adj" fmla="val 588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129784" y="196596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Lunch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080760" y="1965960"/>
            <a:ext cx="1609344" cy="73152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117336" y="1965960"/>
            <a:ext cx="15361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Collaboration window: pairing, live PR reviews, design &amp; QA questions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726680" y="1965960"/>
            <a:ext cx="3913632" cy="731520"/>
          </a:xfrm>
          <a:prstGeom prst="roundRect">
            <a:avLst>
              <a:gd name="adj" fmla="val 5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763256" y="19659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Offline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801368" y="3017520"/>
            <a:ext cx="3913632" cy="731520"/>
          </a:xfrm>
          <a:prstGeom prst="roundRect">
            <a:avLst>
              <a:gd name="adj" fmla="val 5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837944" y="301752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Offline (03:00–09:00 Toronto)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751576" y="3017520"/>
            <a:ext cx="128016" cy="731520"/>
          </a:xfrm>
          <a:prstGeom prst="roundRect">
            <a:avLst>
              <a:gd name="adj" fmla="val 28571"/>
            </a:avLst>
          </a:prstGeom>
          <a:solidFill>
            <a:srgbClr val="2F4A73"/>
          </a:solidFill>
          <a:ln w="12700">
            <a:solidFill>
              <a:srgbClr val="2F4A7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3017520"/>
            <a:ext cx="1609344" cy="73152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117336" y="3017520"/>
            <a:ext cx="15361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Pairs with Chiamaka on reconciliation handover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726680" y="3017520"/>
            <a:ext cx="2926080" cy="731520"/>
          </a:xfrm>
          <a:prstGeom prst="roundRect">
            <a:avLst>
              <a:gd name="adj" fmla="val 5000"/>
            </a:avLst>
          </a:prstGeom>
          <a:solidFill>
            <a:srgbClr val="2F4A73"/>
          </a:solidFill>
          <a:ln w="12700">
            <a:solidFill>
              <a:srgbClr val="2F4A73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763256" y="3017520"/>
            <a:ext cx="28529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Focus: ingestion retries &amp; idempotency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0689336" y="3017520"/>
            <a:ext cx="292608" cy="731520"/>
          </a:xfrm>
          <a:prstGeom prst="roundRect">
            <a:avLst>
              <a:gd name="adj" fmla="val 12500"/>
            </a:avLst>
          </a:prstGeom>
          <a:solidFill>
            <a:srgbClr val="9A6F12"/>
          </a:solidFill>
          <a:ln w="12700">
            <a:solidFill>
              <a:srgbClr val="9A6F1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018520" y="3017520"/>
            <a:ext cx="621792" cy="731520"/>
          </a:xfrm>
          <a:prstGeom prst="roundRect">
            <a:avLst>
              <a:gd name="adj" fmla="val 588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1055096" y="30175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Offline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897880" y="1874520"/>
            <a:ext cx="164592" cy="20116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023360" y="3886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4231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14:15 live standup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6128309" y="38862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Overlap 14:00–17:00 WAT</a:t>
            </a:r>
            <a:endParaRPr 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9881006" y="38862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21:30 handoff post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48640" y="4251960"/>
            <a:ext cx="2635758" cy="164592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85800" y="4325112"/>
            <a:ext cx="236143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09:10 WAT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85800" y="4617720"/>
            <a:ext cx="236143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Tunde approves Daniel's idempotency PR from last night. Halima picks up the overnight staging build before standup.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367278" y="4251960"/>
            <a:ext cx="2635758" cy="164592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504438" y="4325112"/>
            <a:ext cx="236143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11:30 WAT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3504438" y="4617720"/>
            <a:ext cx="236143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NovaWallet sync: still no staging date. Notes posted with @Daniel: 'keep building against mock v2.1'. RAG → Amber for Thursday.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185916" y="4251960"/>
            <a:ext cx="2635758" cy="164592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323076" y="4325112"/>
            <a:ext cx="236143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14:15 WAT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323076" y="4617720"/>
            <a:ext cx="236143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Daniel flags that the mock and contract disagree on repayment reversals. Fixed with Tunde at 14:40 in the window — not overnight.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9004554" y="4251960"/>
            <a:ext cx="2635758" cy="164592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141714" y="4325112"/>
            <a:ext cx="236143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21:40 WAT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9141714" y="4617720"/>
            <a:ext cx="236143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Daniel's handoff: 1 PR up, 1 question for Halima on reversal test data. Lagos picks it up at 09:00 Wednesday.</a:t>
            </a:r>
            <a:endParaRPr lang="en-US" sz="1100" dirty="0"/>
          </a:p>
        </p:txBody>
      </p:sp>
      <p:sp>
        <p:nvSpPr>
          <p:cNvPr id="100" name="Text 98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Result: </a:t>
            </a: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every live decision today happened while Daniel was in the room. His longest wait for a Lagos answer is the ~11h overnight gap — down from a full day or more when standup was at 04:30 his time.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6 · DEPENDENCY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NovaLend's dependency on the NovaWallet API — and how it's managed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2331720" cy="5074920"/>
          </a:xfrm>
          <a:prstGeom prst="roundRect">
            <a:avLst>
              <a:gd name="adj" fmla="val 313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53312"/>
            <a:ext cx="211226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NOVAWALLET SQUAD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1298448"/>
            <a:ext cx="2423160" cy="5074920"/>
          </a:xfrm>
          <a:prstGeom prst="roundRect">
            <a:avLst>
              <a:gd name="adj" fmla="val 3019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72968" y="1353312"/>
            <a:ext cx="220370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SQUAD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298448"/>
            <a:ext cx="1920240" cy="5074920"/>
          </a:xfrm>
          <a:prstGeom prst="roundRect">
            <a:avLst>
              <a:gd name="adj" fmla="val 3810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79008" y="13533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REGULATORY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78308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1783080"/>
            <a:ext cx="18196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NovaWallet core ledger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3175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2880360"/>
            <a:ext cx="181965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Ledger Events API v2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disbursement · repayment · reversal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4231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Staging 2 Oct · Prod 16 Oct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8006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2225">
            <a:solidFill>
              <a:srgbClr val="9A5B0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04672" y="4800600"/>
            <a:ext cx="1819656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5B0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FALLBACK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Nightly ledger extract from read replica · decide Fri 9 Oct 12:00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78308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19272" y="1783080"/>
            <a:ext cx="191109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Ingestion service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Daniel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7889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19272" y="2788920"/>
            <a:ext cx="191109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Repayment &amp; DPD engine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Chiamaka → Daniel (12–16 Oct)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379476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19272" y="3794760"/>
            <a:ext cx="191109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Loan-level store + audit trail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480060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19272" y="4800600"/>
            <a:ext cx="191109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Extract generator + reconciliation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Freeze 23 Oct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23774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25312" y="2377440"/>
            <a:ext cx="140817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Compliance sign-off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16 Oct · 27 Oct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52160" y="39776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25312" y="3977640"/>
            <a:ext cx="1408176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CBN submission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Wed 28 Oct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Deadline Fri 30 Oct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14500" y="2423160"/>
            <a:ext cx="914" cy="45720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2697480" y="2194560"/>
            <a:ext cx="548640" cy="1051560"/>
          </a:xfrm>
          <a:prstGeom prst="line">
            <a:avLst/>
          </a:prstGeom>
          <a:noFill/>
          <a:ln w="28575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2697480" y="2377440"/>
            <a:ext cx="548640" cy="2697480"/>
          </a:xfrm>
          <a:prstGeom prst="line">
            <a:avLst/>
          </a:prstGeom>
          <a:noFill/>
          <a:ln w="22225">
            <a:solidFill>
              <a:srgbClr val="9A5B00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274820" y="2468880"/>
            <a:ext cx="914" cy="32004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274820" y="3474720"/>
            <a:ext cx="914" cy="32004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274820" y="4480560"/>
            <a:ext cx="914" cy="32004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5303520" y="2926080"/>
            <a:ext cx="548640" cy="219456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29400" y="3246120"/>
            <a:ext cx="914" cy="73152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731520" y="397764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231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BLOCKING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863840" y="129844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How I manage it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863840" y="1764792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0" y="17647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339328" y="1719072"/>
            <a:ext cx="329184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Contract first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OpenAPI v2 spec signed by both tech leads by Fri 25 Sep; any change needs both approvals.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863840" y="269748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63840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339328" y="2651760"/>
            <a:ext cx="329184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Don't wait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Daniel builds on a mock of the signed spec from W1; contract tests run nightly in CI against staging once it exists.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863840" y="3630168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63840" y="36301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339328" y="3584448"/>
            <a:ext cx="329184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Need-by dates on their board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Staging 2 Oct and prod 16 Oct sit on NovaWallet's sprint board as committed items, reviewed at Tuesday's sync.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863840" y="4562856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863840" y="45628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339328" y="4517136"/>
            <a:ext cx="329184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Fallback agreed in advance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Nightly extract costs us 3 pts and NovaWallet 2 engineer-days. Decision point Fri 9 Oct 12:00 — not later.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863840" y="5495544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863840" y="549554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339328" y="5449824"/>
            <a:ext cx="329184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RAG rule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Green: on date. Amber: date moved or contract tests failing &gt;1 day. Red: need-by date passed with no committed new date → Level 2 same day.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ARTIFACT 6 · ESCALATION  ·  STRETCH: ESCALATION SCRIPT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Escalating a blocking NovaWallet delay — the ladder and the exact words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17904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1790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53312"/>
            <a:ext cx="4251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Squad to squad · same day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Tunde ↔ NovaWallet tech lead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Contract test fails or date wobbles. Aim: a fix or a new date in writing today.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15184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61518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450592"/>
            <a:ext cx="4251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Scrum Masters / EMs · within 2 working days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Deborah ↔ Segun Alabi (NovaWallet EM)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New date lands after our need-by. Output: joint recovery plan, logged as D1.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9300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712464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71246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47872"/>
            <a:ext cx="4251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Engineering leadership · by Fri 9 Oct, 12:00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Head of Engineering + both EMs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 committed staging date by 9 Oct. Output: fallback approved or NovaWallet re-prioritised.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59028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809744"/>
            <a:ext cx="548640" cy="5486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80974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645152"/>
            <a:ext cx="4251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Head of Digital Factory · within 48h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Compliance informed in parallel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L2 unresolved, or the 23 Oct freeze is at risk. Output: cross-squad priority call.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15000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Rule: NovaWallet's EM hears every escalation from me before anyone above him does. Escalation is a scheduled event with a pre-agreed trigger — not a complaint.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1298448"/>
            <a:ext cx="5696712" cy="2743200"/>
          </a:xfrm>
          <a:prstGeom prst="roundRect">
            <a:avLst>
              <a:gd name="adj" fmla="val 2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0" y="1371600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L1 · To Segun (NovaWallet EM), on a call — Mon 5 Oct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1691640"/>
            <a:ext cx="534924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“Segun, I'd rather flag this early than surprise you. Our CBN report for 30 October depends on Ledger Events v2 being in staging — it was due on the 2nd and it isn't there yet. I know you have your own pressures. Can we agree today on a date you're confident in, not an optimistic one? Our last safe date is Friday the 9th at noon. If that can't happen, I'd like us to take the fallback to [Head of Engineering] together on Thursday — a nightly ledger extract, about two days of one of your engineers — so it's our joint recommendation, not me going around you.”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4178808"/>
            <a:ext cx="5696712" cy="2176272"/>
          </a:xfrm>
          <a:prstGeom prst="roundRect">
            <a:avLst>
              <a:gd name="adj" fmla="val 3361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4251960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L2 · To Head of Engineering, Thu 8 Oct — with Segun on the call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4572000"/>
            <a:ext cx="53492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“We need a decision from you by Friday at 12:00. NovaWallet's API has missed staging, and their new date of the 14th leaves no buffer before our 23 October freeze on a CBN date that can't move. Segun and I both recommend the nightly extract fallback — it costs one of his engineers two days. If we wait and it slips once more, we miss the regulator.”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STRETCH GOAL · DEFINITION OF DONE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Definition of Done — tightened for a regulator-facing deliverable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2971800" cy="5056632"/>
          </a:xfrm>
          <a:prstGeom prst="roundRect">
            <a:avLst>
              <a:gd name="adj" fmla="val 24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Standard DoD — still applies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265176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Acceptance criteria met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Code reviewed and merged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Automated tests green in CI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Deployed to staging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 open Sev 1 / Sev 2 defects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Docs and runbook updated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63440"/>
            <a:ext cx="26517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D4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For CBN stories, 'done' also means everything on the right. Applies to all 8 protected backlog items; a story that meets only the left column stays in 'Ready for sign-off', not 'Done'.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03320" y="1298448"/>
            <a:ext cx="3877056" cy="2459736"/>
          </a:xfrm>
          <a:prstGeom prst="roundRect">
            <a:avLst>
              <a:gd name="adj" fmla="val 297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67912" y="1389888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Data correctness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1709928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Every report field traces to a source field + transformation rule in the versioned mapping doc, approved by Compliance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Reconciles to the loan book: loan count, principal outstanding and DPD buckets match to ₦0; each exception has a named explanation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Tested on the cases that break regulatory reports: partial repayment, NovaWallet reversal, restructured loan, in-period write-off, missing BVN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Re-running the same period produces an identical file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63256" y="1298448"/>
            <a:ext cx="3877056" cy="2459736"/>
          </a:xfrm>
          <a:prstGeom prst="roundRect">
            <a:avLst>
              <a:gd name="adj" fmla="val 297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27848" y="1389888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Evidence &amp; audit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27848" y="1709928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Test evidence (run IDs, sample outputs) attached to the ticket — 'passed in QA' is not evidence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Every report run logs who, when, code version and data snapshot hash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Four-eyes: 2 approving reviews, one from outside the author's pair (Daniel's PRs: at least one Lagos reviewer)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03320" y="3895344"/>
            <a:ext cx="3877056" cy="2459736"/>
          </a:xfrm>
          <a:prstGeom prst="roundRect">
            <a:avLst>
              <a:gd name="adj" fmla="val 297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67912" y="3986784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Security &amp; privacy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67912" y="4306824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BVN and phone numbers masked in logs and non-production environments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Data encrypted at rest and in transit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Extract access limited to named Compliance and Ops roles; InfoSec checklist signed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63256" y="3895344"/>
            <a:ext cx="3877056" cy="2459736"/>
          </a:xfrm>
          <a:prstGeom prst="roundRect">
            <a:avLst>
              <a:gd name="adj" fmla="val 297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27848" y="3986784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Sign-off &amp; release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27848" y="4306824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Demoed in sprint review with Compliance present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Named Compliance approver signs off — PO acceptance alone is not enough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☐  Change request approved at CAB; rollback and re-submission runbook tested once before 28 Oct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DEFENDING THE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Pushback I expect from leadership — and my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3544824" cy="2395728"/>
          </a:xfrm>
          <a:prstGeom prst="roundRect">
            <a:avLst>
              <a:gd name="adj" fmla="val 305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35608"/>
            <a:ext cx="317906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“Can't we just add engineers or ask for weekend work?”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12848"/>
            <a:ext cx="3179064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New people cost onboarding time on a regulated codebase inside a 6-week window. Weekend work after two missed sprints spends the morale we need in Week 6. The plan works at 38 pts without either.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2064" y="1298448"/>
            <a:ext cx="3544824" cy="2395728"/>
          </a:xfrm>
          <a:prstGeom prst="roundRect">
            <a:avLst>
              <a:gd name="adj" fmla="val 3053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4944" y="1435608"/>
            <a:ext cx="317906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“Why commit 38 when capacity is 45.5?”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04944" y="2212848"/>
            <a:ext cx="3179064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The last two sprints committed 34 and 32 and delivered 21 and 19. The 7.5 pts are the NovaWallet slip absorber — the one risk we've already seen happen.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5488" y="1298448"/>
            <a:ext cx="3544824" cy="2395728"/>
          </a:xfrm>
          <a:prstGeom prst="roundRect">
            <a:avLst>
              <a:gd name="adj" fmla="val 305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8368" y="1435608"/>
            <a:ext cx="317906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“Why a manual CBN upload in 2026?”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78368" y="2212848"/>
            <a:ext cx="3179064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Automation adds 3 pts and a brand-new failure point on submission day. A four-eyes checklist upload is auditable and proven. We automate in November.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58768"/>
            <a:ext cx="3544824" cy="2395728"/>
          </a:xfrm>
          <a:prstGeom prst="roundRect">
            <a:avLst>
              <a:gd name="adj" fmla="val 3053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95928"/>
            <a:ext cx="317906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“Why move standup for 7 people because of 1 contractor?”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73168"/>
            <a:ext cx="3179064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Daniel owns the ingestion service that everything else depends on. Excluding him from live decisions for two sprints is part of why we missed. 14:15 costs Lagos little.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2064" y="3858768"/>
            <a:ext cx="3544824" cy="2395728"/>
          </a:xfrm>
          <a:prstGeom prst="roundRect">
            <a:avLst>
              <a:gd name="adj" fmla="val 305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04944" y="3995928"/>
            <a:ext cx="317906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“Why decide on the fallback by 9 Oct? Just wait.”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04944" y="4773168"/>
            <a:ext cx="3179064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Integration + regression is ~6 engineer-days. Working back from the 23 Oct freeze, 9 Oct noon is the last point both options still fit. After that we're choosing by default.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5488" y="3858768"/>
            <a:ext cx="3544824" cy="2395728"/>
          </a:xfrm>
          <a:prstGeom prst="roundRect">
            <a:avLst>
              <a:gd name="adj" fmla="val 3053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8368" y="3995928"/>
            <a:ext cx="317906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“Won't telling Compliance about risk now cause alarm?”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78368" y="4773168"/>
            <a:ext cx="3179064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Compliance owns the CBN relationship. On 23 Sep, with a fallback and a decision date, it's a plan. On 29 Oct, it's an incident.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AI_USAGE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How AI was used — and how its output was checked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NovaLend Scrum Master Ops Kit  ·  FirstBank Digital Factory  ·  </a:t>
            </a: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Deborah Agbanimu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8988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Tools and what they were used for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37360"/>
            <a:ext cx="50749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Claude (Anthropic): turned the brief into a first full draft of all six artifacts, the stretch goals and this deck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Human review: checked every date, number, owner and audience against the scenario before accepting any slide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Add any other tools you used here (e.g. Copilot in PowerPoint for layout tweaks)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584448"/>
            <a:ext cx="5394960" cy="2770632"/>
          </a:xfrm>
          <a:prstGeom prst="roundRect">
            <a:avLst>
              <a:gd name="adj" fmla="val 264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7588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Prompt 1 — as given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05072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“[8 screenshots of the take-home brief] ENSURE TO FOLLOW THE 'How you'll be assessed' ALSO I NEED YOUR ANSWER TO BE REAL AS POSSIBLE AND Prepare your response in MS PowerPoint.”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02920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4A4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What came back: </a:t>
            </a:r>
            <a:r>
              <a:rPr lang="en-US" sz="105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 22-slide draft Ops Kit. Prompts 2–3 (the targeted corrections) and their results are listed in the AI_USAGE.md in the repo.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298448"/>
            <a:ext cx="542239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Checks applied to catch generic or wrong AI output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42239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1728216"/>
            <a:ext cx="512064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Does the calendar actually work?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Every date checked against a real 2026 calendar — Independence Day is a Thursday; 30 Oct is a Friday.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24328"/>
            <a:ext cx="5422392" cy="841248"/>
          </a:xfrm>
          <a:prstGeom prst="roundRect">
            <a:avLst>
              <a:gd name="adj" fmla="val 8696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2660904"/>
            <a:ext cx="512064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Is velocity from delivery, not commitment?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 standard plan sizes sprints from what was committed (34). This one uses what was delivered (21, 19).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557016"/>
            <a:ext cx="542239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3593592"/>
            <a:ext cx="512064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Does the time-zone gap hold to the deadline?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Toronto stays on EDT until 1 Nov, so the 5-hour gap is stable through 30 Oct.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489704"/>
            <a:ext cx="5422392" cy="841248"/>
          </a:xfrm>
          <a:prstGeom prst="roundRect">
            <a:avLst>
              <a:gd name="adj" fmla="val 8696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4526280"/>
            <a:ext cx="512064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Right detail for the right audience?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 story points for the Head of Digital Factory; no implementation detail for Compliance.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5422392"/>
            <a:ext cx="542239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5458968"/>
            <a:ext cx="512064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Would a real lead need a meeting to act?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The sample update names who decides, by when, the costed options and the default.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33633</Words>
  <Application>WPS Presentation</Application>
  <PresentationFormat>On-screen Show (16:9)</PresentationFormat>
  <Paragraphs>1557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SimSun</vt:lpstr>
      <vt:lpstr>Wingdings</vt:lpstr>
      <vt:lpstr>Arial</vt:lpstr>
      <vt:lpstr>Arial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NovaLend Scrum Master Ops Kit</dc:title>
  <dc:creator>Emmanuel Oloruntoba</dc:creator>
  <dc:subject>PptxGenJS Presentation</dc:subject>
  <cp:lastModifiedBy>samueladeshinaabatan</cp:lastModifiedBy>
  <cp:revision>3</cp:revision>
  <dcterms:created xsi:type="dcterms:W3CDTF">2026-09-16T19:42:50Z</dcterms:created>
  <dcterms:modified xsi:type="dcterms:W3CDTF">2026-09-16T19:42:50Z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9D2DD1BE0E9F9E30ADF0AA6AE34118BF_42</vt:lpwstr>
  </property>
  <property fmtid="{D5CDD505-2E9C-101B-9397-08002B2CF9AE}" pid="3" name="KSOProductBuildVer">
    <vt:lpwstr>1033-12.1.28496.28496</vt:lpwstr>
  </property>
</Properties>
</file>